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8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67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2" r:id="rId23"/>
    <p:sldId id="281" r:id="rId24"/>
    <p:sldId id="283" r:id="rId25"/>
    <p:sldId id="284" r:id="rId26"/>
    <p:sldId id="285" r:id="rId27"/>
    <p:sldId id="28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6" d="100"/>
          <a:sy n="76" d="100"/>
        </p:scale>
        <p:origin x="4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3A6D13-083A-481D-9E4D-D1976E36A08A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0D3C606-97CC-4D20-833A-6F9C09301E49}">
      <dgm:prSet/>
      <dgm:spPr/>
      <dgm:t>
        <a:bodyPr/>
        <a:lstStyle/>
        <a:p>
          <a:r>
            <a:rPr lang="en-US" b="1"/>
            <a:t>Project Title:</a:t>
          </a:r>
          <a:r>
            <a:rPr lang="en-US"/>
            <a:t> Library Management System</a:t>
          </a:r>
        </a:p>
      </dgm:t>
    </dgm:pt>
    <dgm:pt modelId="{72994EA4-1594-4F3B-989E-D964B36E5CCD}" type="parTrans" cxnId="{98B615A8-694D-46CE-BFE2-0452F30FE959}">
      <dgm:prSet/>
      <dgm:spPr/>
      <dgm:t>
        <a:bodyPr/>
        <a:lstStyle/>
        <a:p>
          <a:endParaRPr lang="en-US"/>
        </a:p>
      </dgm:t>
    </dgm:pt>
    <dgm:pt modelId="{7595BDFF-10B3-411F-8FF2-DEDA45B6BA31}" type="sibTrans" cxnId="{98B615A8-694D-46CE-BFE2-0452F30FE959}">
      <dgm:prSet/>
      <dgm:spPr/>
      <dgm:t>
        <a:bodyPr/>
        <a:lstStyle/>
        <a:p>
          <a:endParaRPr lang="en-US"/>
        </a:p>
      </dgm:t>
    </dgm:pt>
    <dgm:pt modelId="{D51BCAE2-19CE-4391-808A-12A37B8E0392}">
      <dgm:prSet/>
      <dgm:spPr/>
      <dgm:t>
        <a:bodyPr/>
        <a:lstStyle/>
        <a:p>
          <a:r>
            <a:rPr lang="en-US" b="1"/>
            <a:t>Objective:</a:t>
          </a:r>
          <a:endParaRPr lang="en-US"/>
        </a:p>
      </dgm:t>
    </dgm:pt>
    <dgm:pt modelId="{660131F2-331E-4E73-923F-9EF63B05F00B}" type="parTrans" cxnId="{ECBE7D33-373B-4058-9623-C2C4D5659995}">
      <dgm:prSet/>
      <dgm:spPr/>
      <dgm:t>
        <a:bodyPr/>
        <a:lstStyle/>
        <a:p>
          <a:endParaRPr lang="en-US"/>
        </a:p>
      </dgm:t>
    </dgm:pt>
    <dgm:pt modelId="{8903C339-A8CC-4379-AA53-E5E40E389160}" type="sibTrans" cxnId="{ECBE7D33-373B-4058-9623-C2C4D5659995}">
      <dgm:prSet/>
      <dgm:spPr/>
      <dgm:t>
        <a:bodyPr/>
        <a:lstStyle/>
        <a:p>
          <a:endParaRPr lang="en-US"/>
        </a:p>
      </dgm:t>
    </dgm:pt>
    <dgm:pt modelId="{91935537-41C9-4E6F-869A-30C90E365000}">
      <dgm:prSet/>
      <dgm:spPr/>
      <dgm:t>
        <a:bodyPr/>
        <a:lstStyle/>
        <a:p>
          <a:r>
            <a:rPr lang="en-US"/>
            <a:t>Implement a structured database for library management</a:t>
          </a:r>
        </a:p>
      </dgm:t>
    </dgm:pt>
    <dgm:pt modelId="{DBC1BAE6-9BF0-4CCD-B3EF-11EFE72AA0AE}" type="parTrans" cxnId="{E7F24A40-BCD4-405E-8C78-38D1C5EA2C93}">
      <dgm:prSet/>
      <dgm:spPr/>
      <dgm:t>
        <a:bodyPr/>
        <a:lstStyle/>
        <a:p>
          <a:endParaRPr lang="en-US"/>
        </a:p>
      </dgm:t>
    </dgm:pt>
    <dgm:pt modelId="{2BEC68DB-0A1E-4985-A0B1-CF3ED818D933}" type="sibTrans" cxnId="{E7F24A40-BCD4-405E-8C78-38D1C5EA2C93}">
      <dgm:prSet/>
      <dgm:spPr/>
      <dgm:t>
        <a:bodyPr/>
        <a:lstStyle/>
        <a:p>
          <a:endParaRPr lang="en-US"/>
        </a:p>
      </dgm:t>
    </dgm:pt>
    <dgm:pt modelId="{EEF0D155-C678-4759-9638-24A208F06BB3}">
      <dgm:prSet/>
      <dgm:spPr/>
      <dgm:t>
        <a:bodyPr/>
        <a:lstStyle/>
        <a:p>
          <a:r>
            <a:rPr lang="en-US"/>
            <a:t>Perform CRUD operations</a:t>
          </a:r>
        </a:p>
      </dgm:t>
    </dgm:pt>
    <dgm:pt modelId="{E79F375A-8475-4AFA-8744-77586F9B9573}" type="parTrans" cxnId="{7AD360F8-1C47-4060-B619-A35120E65256}">
      <dgm:prSet/>
      <dgm:spPr/>
      <dgm:t>
        <a:bodyPr/>
        <a:lstStyle/>
        <a:p>
          <a:endParaRPr lang="en-US"/>
        </a:p>
      </dgm:t>
    </dgm:pt>
    <dgm:pt modelId="{92A341CC-BAD0-40EF-BCB0-445B0D5FFE27}" type="sibTrans" cxnId="{7AD360F8-1C47-4060-B619-A35120E65256}">
      <dgm:prSet/>
      <dgm:spPr/>
      <dgm:t>
        <a:bodyPr/>
        <a:lstStyle/>
        <a:p>
          <a:endParaRPr lang="en-US"/>
        </a:p>
      </dgm:t>
    </dgm:pt>
    <dgm:pt modelId="{676CC951-B8B8-4C35-911F-ED7EDB8E2585}">
      <dgm:prSet/>
      <dgm:spPr/>
      <dgm:t>
        <a:bodyPr/>
        <a:lstStyle/>
        <a:p>
          <a:r>
            <a:rPr lang="en-US"/>
            <a:t>Execute advanced SQL queries for analysis</a:t>
          </a:r>
        </a:p>
      </dgm:t>
    </dgm:pt>
    <dgm:pt modelId="{54A6C6AD-B7B4-4FDE-B8FA-334BBAA9D277}" type="parTrans" cxnId="{6AFB5674-07D4-4516-8F4B-5CCDD61DFB36}">
      <dgm:prSet/>
      <dgm:spPr/>
      <dgm:t>
        <a:bodyPr/>
        <a:lstStyle/>
        <a:p>
          <a:endParaRPr lang="en-US"/>
        </a:p>
      </dgm:t>
    </dgm:pt>
    <dgm:pt modelId="{4BD28925-68E9-4DD7-9557-88095E880E92}" type="sibTrans" cxnId="{6AFB5674-07D4-4516-8F4B-5CCDD61DFB36}">
      <dgm:prSet/>
      <dgm:spPr/>
      <dgm:t>
        <a:bodyPr/>
        <a:lstStyle/>
        <a:p>
          <a:endParaRPr lang="en-US"/>
        </a:p>
      </dgm:t>
    </dgm:pt>
    <dgm:pt modelId="{DBBAF8F6-04FC-4088-8F0E-C9B28322756E}" type="pres">
      <dgm:prSet presAssocID="{843A6D13-083A-481D-9E4D-D1976E36A08A}" presName="linear" presStyleCnt="0">
        <dgm:presLayoutVars>
          <dgm:dir/>
          <dgm:animLvl val="lvl"/>
          <dgm:resizeHandles val="exact"/>
        </dgm:presLayoutVars>
      </dgm:prSet>
      <dgm:spPr/>
    </dgm:pt>
    <dgm:pt modelId="{3CB534B8-61D9-4DA2-8DD6-0CEC3D336050}" type="pres">
      <dgm:prSet presAssocID="{E0D3C606-97CC-4D20-833A-6F9C09301E49}" presName="parentLin" presStyleCnt="0"/>
      <dgm:spPr/>
    </dgm:pt>
    <dgm:pt modelId="{D0E77C0D-5231-45A7-B9EB-AF5E995AE2F4}" type="pres">
      <dgm:prSet presAssocID="{E0D3C606-97CC-4D20-833A-6F9C09301E49}" presName="parentLeftMargin" presStyleLbl="node1" presStyleIdx="0" presStyleCnt="2"/>
      <dgm:spPr/>
    </dgm:pt>
    <dgm:pt modelId="{7E0ACB5E-83CD-4B1E-AD70-4CE068008499}" type="pres">
      <dgm:prSet presAssocID="{E0D3C606-97CC-4D20-833A-6F9C09301E4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2ECC22E-234C-4D5D-A430-00B035418698}" type="pres">
      <dgm:prSet presAssocID="{E0D3C606-97CC-4D20-833A-6F9C09301E49}" presName="negativeSpace" presStyleCnt="0"/>
      <dgm:spPr/>
    </dgm:pt>
    <dgm:pt modelId="{19A56862-EB54-4219-8DE1-FA3AEC1B5D08}" type="pres">
      <dgm:prSet presAssocID="{E0D3C606-97CC-4D20-833A-6F9C09301E49}" presName="childText" presStyleLbl="conFgAcc1" presStyleIdx="0" presStyleCnt="2">
        <dgm:presLayoutVars>
          <dgm:bulletEnabled val="1"/>
        </dgm:presLayoutVars>
      </dgm:prSet>
      <dgm:spPr/>
    </dgm:pt>
    <dgm:pt modelId="{C621D110-306F-41FE-9965-24C8D7BDB4EE}" type="pres">
      <dgm:prSet presAssocID="{7595BDFF-10B3-411F-8FF2-DEDA45B6BA31}" presName="spaceBetweenRectangles" presStyleCnt="0"/>
      <dgm:spPr/>
    </dgm:pt>
    <dgm:pt modelId="{667129F0-D2C4-4422-A5DF-D195B235C669}" type="pres">
      <dgm:prSet presAssocID="{D51BCAE2-19CE-4391-808A-12A37B8E0392}" presName="parentLin" presStyleCnt="0"/>
      <dgm:spPr/>
    </dgm:pt>
    <dgm:pt modelId="{CD193FAE-D519-40C0-BBD2-97AA8A180AEB}" type="pres">
      <dgm:prSet presAssocID="{D51BCAE2-19CE-4391-808A-12A37B8E0392}" presName="parentLeftMargin" presStyleLbl="node1" presStyleIdx="0" presStyleCnt="2"/>
      <dgm:spPr/>
    </dgm:pt>
    <dgm:pt modelId="{D37B1D63-59FE-43A3-9882-8C8D781CD62B}" type="pres">
      <dgm:prSet presAssocID="{D51BCAE2-19CE-4391-808A-12A37B8E039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F324AA6-0082-4E35-B582-4C233330625E}" type="pres">
      <dgm:prSet presAssocID="{D51BCAE2-19CE-4391-808A-12A37B8E0392}" presName="negativeSpace" presStyleCnt="0"/>
      <dgm:spPr/>
    </dgm:pt>
    <dgm:pt modelId="{EC0345C0-096F-41F0-96EA-3209905DD407}" type="pres">
      <dgm:prSet presAssocID="{D51BCAE2-19CE-4391-808A-12A37B8E0392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1000425-70EF-4D51-9477-E9AF53B8960A}" type="presOf" srcId="{E0D3C606-97CC-4D20-833A-6F9C09301E49}" destId="{D0E77C0D-5231-45A7-B9EB-AF5E995AE2F4}" srcOrd="0" destOrd="0" presId="urn:microsoft.com/office/officeart/2005/8/layout/list1"/>
    <dgm:cxn modelId="{ECBE7D33-373B-4058-9623-C2C4D5659995}" srcId="{843A6D13-083A-481D-9E4D-D1976E36A08A}" destId="{D51BCAE2-19CE-4391-808A-12A37B8E0392}" srcOrd="1" destOrd="0" parTransId="{660131F2-331E-4E73-923F-9EF63B05F00B}" sibTransId="{8903C339-A8CC-4379-AA53-E5E40E389160}"/>
    <dgm:cxn modelId="{E7F24A40-BCD4-405E-8C78-38D1C5EA2C93}" srcId="{D51BCAE2-19CE-4391-808A-12A37B8E0392}" destId="{91935537-41C9-4E6F-869A-30C90E365000}" srcOrd="0" destOrd="0" parTransId="{DBC1BAE6-9BF0-4CCD-B3EF-11EFE72AA0AE}" sibTransId="{2BEC68DB-0A1E-4985-A0B1-CF3ED818D933}"/>
    <dgm:cxn modelId="{55458860-1251-41A5-8294-1EE24EE6701E}" type="presOf" srcId="{91935537-41C9-4E6F-869A-30C90E365000}" destId="{EC0345C0-096F-41F0-96EA-3209905DD407}" srcOrd="0" destOrd="0" presId="urn:microsoft.com/office/officeart/2005/8/layout/list1"/>
    <dgm:cxn modelId="{7DD37146-C9C7-439A-A8BF-7B8061EED9F3}" type="presOf" srcId="{E0D3C606-97CC-4D20-833A-6F9C09301E49}" destId="{7E0ACB5E-83CD-4B1E-AD70-4CE068008499}" srcOrd="1" destOrd="0" presId="urn:microsoft.com/office/officeart/2005/8/layout/list1"/>
    <dgm:cxn modelId="{6AFB5674-07D4-4516-8F4B-5CCDD61DFB36}" srcId="{D51BCAE2-19CE-4391-808A-12A37B8E0392}" destId="{676CC951-B8B8-4C35-911F-ED7EDB8E2585}" srcOrd="2" destOrd="0" parTransId="{54A6C6AD-B7B4-4FDE-B8FA-334BBAA9D277}" sibTransId="{4BD28925-68E9-4DD7-9557-88095E880E92}"/>
    <dgm:cxn modelId="{98B615A8-694D-46CE-BFE2-0452F30FE959}" srcId="{843A6D13-083A-481D-9E4D-D1976E36A08A}" destId="{E0D3C606-97CC-4D20-833A-6F9C09301E49}" srcOrd="0" destOrd="0" parTransId="{72994EA4-1594-4F3B-989E-D964B36E5CCD}" sibTransId="{7595BDFF-10B3-411F-8FF2-DEDA45B6BA31}"/>
    <dgm:cxn modelId="{ACAF98BD-4310-4CC1-95F1-C63BF41B5997}" type="presOf" srcId="{D51BCAE2-19CE-4391-808A-12A37B8E0392}" destId="{CD193FAE-D519-40C0-BBD2-97AA8A180AEB}" srcOrd="0" destOrd="0" presId="urn:microsoft.com/office/officeart/2005/8/layout/list1"/>
    <dgm:cxn modelId="{449502CB-31F8-4B65-8C01-DD0A741E9717}" type="presOf" srcId="{EEF0D155-C678-4759-9638-24A208F06BB3}" destId="{EC0345C0-096F-41F0-96EA-3209905DD407}" srcOrd="0" destOrd="1" presId="urn:microsoft.com/office/officeart/2005/8/layout/list1"/>
    <dgm:cxn modelId="{772EDEE4-6790-40EB-B347-8567B95B02DE}" type="presOf" srcId="{676CC951-B8B8-4C35-911F-ED7EDB8E2585}" destId="{EC0345C0-096F-41F0-96EA-3209905DD407}" srcOrd="0" destOrd="2" presId="urn:microsoft.com/office/officeart/2005/8/layout/list1"/>
    <dgm:cxn modelId="{2AF49EF0-F295-45E3-81C0-4D3F406E15E7}" type="presOf" srcId="{D51BCAE2-19CE-4391-808A-12A37B8E0392}" destId="{D37B1D63-59FE-43A3-9882-8C8D781CD62B}" srcOrd="1" destOrd="0" presId="urn:microsoft.com/office/officeart/2005/8/layout/list1"/>
    <dgm:cxn modelId="{7AD360F8-1C47-4060-B619-A35120E65256}" srcId="{D51BCAE2-19CE-4391-808A-12A37B8E0392}" destId="{EEF0D155-C678-4759-9638-24A208F06BB3}" srcOrd="1" destOrd="0" parTransId="{E79F375A-8475-4AFA-8744-77586F9B9573}" sibTransId="{92A341CC-BAD0-40EF-BCB0-445B0D5FFE27}"/>
    <dgm:cxn modelId="{438824FF-061C-4B10-9C15-EF8AF168C3D2}" type="presOf" srcId="{843A6D13-083A-481D-9E4D-D1976E36A08A}" destId="{DBBAF8F6-04FC-4088-8F0E-C9B28322756E}" srcOrd="0" destOrd="0" presId="urn:microsoft.com/office/officeart/2005/8/layout/list1"/>
    <dgm:cxn modelId="{0AF9A91D-A3C8-4103-B503-9DE2899E28D9}" type="presParOf" srcId="{DBBAF8F6-04FC-4088-8F0E-C9B28322756E}" destId="{3CB534B8-61D9-4DA2-8DD6-0CEC3D336050}" srcOrd="0" destOrd="0" presId="urn:microsoft.com/office/officeart/2005/8/layout/list1"/>
    <dgm:cxn modelId="{B3E17CAB-34D3-499E-B479-0BF9A5C0658F}" type="presParOf" srcId="{3CB534B8-61D9-4DA2-8DD6-0CEC3D336050}" destId="{D0E77C0D-5231-45A7-B9EB-AF5E995AE2F4}" srcOrd="0" destOrd="0" presId="urn:microsoft.com/office/officeart/2005/8/layout/list1"/>
    <dgm:cxn modelId="{828A00B5-E7F1-4ACC-8DC9-E2B6A68E0AD6}" type="presParOf" srcId="{3CB534B8-61D9-4DA2-8DD6-0CEC3D336050}" destId="{7E0ACB5E-83CD-4B1E-AD70-4CE068008499}" srcOrd="1" destOrd="0" presId="urn:microsoft.com/office/officeart/2005/8/layout/list1"/>
    <dgm:cxn modelId="{BDFE7A7A-B0DF-4C59-9034-333C3A873941}" type="presParOf" srcId="{DBBAF8F6-04FC-4088-8F0E-C9B28322756E}" destId="{B2ECC22E-234C-4D5D-A430-00B035418698}" srcOrd="1" destOrd="0" presId="urn:microsoft.com/office/officeart/2005/8/layout/list1"/>
    <dgm:cxn modelId="{55CF298E-DEA1-489A-9F0F-3B85EA3BCF6D}" type="presParOf" srcId="{DBBAF8F6-04FC-4088-8F0E-C9B28322756E}" destId="{19A56862-EB54-4219-8DE1-FA3AEC1B5D08}" srcOrd="2" destOrd="0" presId="urn:microsoft.com/office/officeart/2005/8/layout/list1"/>
    <dgm:cxn modelId="{A6B3EAF6-BDDB-4C32-BDFF-C2FA55A43E29}" type="presParOf" srcId="{DBBAF8F6-04FC-4088-8F0E-C9B28322756E}" destId="{C621D110-306F-41FE-9965-24C8D7BDB4EE}" srcOrd="3" destOrd="0" presId="urn:microsoft.com/office/officeart/2005/8/layout/list1"/>
    <dgm:cxn modelId="{3570BB14-3789-44B5-AAF5-D3D7C2C0D81B}" type="presParOf" srcId="{DBBAF8F6-04FC-4088-8F0E-C9B28322756E}" destId="{667129F0-D2C4-4422-A5DF-D195B235C669}" srcOrd="4" destOrd="0" presId="urn:microsoft.com/office/officeart/2005/8/layout/list1"/>
    <dgm:cxn modelId="{AA4D1BD5-0C9D-4661-A23E-8F445C1E598F}" type="presParOf" srcId="{667129F0-D2C4-4422-A5DF-D195B235C669}" destId="{CD193FAE-D519-40C0-BBD2-97AA8A180AEB}" srcOrd="0" destOrd="0" presId="urn:microsoft.com/office/officeart/2005/8/layout/list1"/>
    <dgm:cxn modelId="{5A8B6B10-8F1B-4322-BE44-353F74738C21}" type="presParOf" srcId="{667129F0-D2C4-4422-A5DF-D195B235C669}" destId="{D37B1D63-59FE-43A3-9882-8C8D781CD62B}" srcOrd="1" destOrd="0" presId="urn:microsoft.com/office/officeart/2005/8/layout/list1"/>
    <dgm:cxn modelId="{A9134AE5-38A2-4F55-BC8A-E6398C04B1BD}" type="presParOf" srcId="{DBBAF8F6-04FC-4088-8F0E-C9B28322756E}" destId="{5F324AA6-0082-4E35-B582-4C233330625E}" srcOrd="5" destOrd="0" presId="urn:microsoft.com/office/officeart/2005/8/layout/list1"/>
    <dgm:cxn modelId="{E896E9E1-AD33-40AA-9B7E-EEE3D7DD990E}" type="presParOf" srcId="{DBBAF8F6-04FC-4088-8F0E-C9B28322756E}" destId="{EC0345C0-096F-41F0-96EA-3209905DD40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56862-EB54-4219-8DE1-FA3AEC1B5D08}">
      <dsp:nvSpPr>
        <dsp:cNvPr id="0" name=""/>
        <dsp:cNvSpPr/>
      </dsp:nvSpPr>
      <dsp:spPr>
        <a:xfrm>
          <a:off x="0" y="1624507"/>
          <a:ext cx="690051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0ACB5E-83CD-4B1E-AD70-4CE068008499}">
      <dsp:nvSpPr>
        <dsp:cNvPr id="0" name=""/>
        <dsp:cNvSpPr/>
      </dsp:nvSpPr>
      <dsp:spPr>
        <a:xfrm>
          <a:off x="345025" y="1344067"/>
          <a:ext cx="4830358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Project Title:</a:t>
          </a:r>
          <a:r>
            <a:rPr lang="en-US" sz="1900" kern="1200"/>
            <a:t> Library Management System</a:t>
          </a:r>
        </a:p>
      </dsp:txBody>
      <dsp:txXfrm>
        <a:off x="372405" y="1371447"/>
        <a:ext cx="4775598" cy="506120"/>
      </dsp:txXfrm>
    </dsp:sp>
    <dsp:sp modelId="{EC0345C0-096F-41F0-96EA-3209905DD407}">
      <dsp:nvSpPr>
        <dsp:cNvPr id="0" name=""/>
        <dsp:cNvSpPr/>
      </dsp:nvSpPr>
      <dsp:spPr>
        <a:xfrm>
          <a:off x="0" y="2486348"/>
          <a:ext cx="6900512" cy="17057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5556" tIns="395732" rIns="53555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Implement a structured database for library management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Perform CRUD operations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Execute advanced SQL queries for analysis</a:t>
          </a:r>
        </a:p>
      </dsp:txBody>
      <dsp:txXfrm>
        <a:off x="0" y="2486348"/>
        <a:ext cx="6900512" cy="1705725"/>
      </dsp:txXfrm>
    </dsp:sp>
    <dsp:sp modelId="{D37B1D63-59FE-43A3-9882-8C8D781CD62B}">
      <dsp:nvSpPr>
        <dsp:cNvPr id="0" name=""/>
        <dsp:cNvSpPr/>
      </dsp:nvSpPr>
      <dsp:spPr>
        <a:xfrm>
          <a:off x="345025" y="2205908"/>
          <a:ext cx="4830358" cy="5608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Objective:</a:t>
          </a:r>
          <a:endParaRPr lang="en-US" sz="1900" kern="1200"/>
        </a:p>
      </dsp:txBody>
      <dsp:txXfrm>
        <a:off x="372405" y="2233288"/>
        <a:ext cx="4775598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5C8B3-2465-455A-8F04-A429CCC643A6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F05FC-E8D6-46BA-A769-E089271B9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0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05FC-E8D6-46BA-A769-E089271B92A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60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E701-90BD-ABD8-36C2-C53DBD066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A55EB1-5172-11B4-3AE6-5EF54802E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3E369-A843-F16A-F392-78EC4022A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6AA2D-9D53-C300-4A7A-855490CE80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05FC-E8D6-46BA-A769-E089271B92A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62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DDCFB-55DE-1863-8A71-02CFAED37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8C04F-4201-0B13-FF6A-FE11A5478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E755D3-7869-7CC9-3F72-CECA8C101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64702-B342-FE69-EB96-C585E1E6B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05FC-E8D6-46BA-A769-E089271B92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21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59024-E4F8-4C86-65E1-7211CB145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2188E-DE21-5ADC-6764-2C08F770A1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143514-EC4F-3A8A-8447-3B40265FD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7E9DA-3439-7B5A-7B45-EFBD68CAC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05FC-E8D6-46BA-A769-E089271B92A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339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4790C-37AB-2436-E21E-4C047EE10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D9EB2-6875-AF32-EF05-4DB731B63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C8F811-7633-19CA-86D4-0A4C94D35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4EE58B-B9D8-247E-D4F9-21C93E2CF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05FC-E8D6-46BA-A769-E089271B92A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46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F67EA-6120-1D05-116A-2EBBD338F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57855-2BE5-2772-9641-4B92ED088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84D2A-A2EE-96F9-7B6F-2A2EB9582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9E764-531A-397D-8297-9F45C31D1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05FC-E8D6-46BA-A769-E089271B92A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01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32DCE-467E-4BFA-C95F-B30223DE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567EA-8F54-E1F5-5FA0-E0658595C9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42B5D9-8FE5-0155-DA2D-C486D2412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A2E8E-F2F1-7083-A03B-DE6D24CF2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05FC-E8D6-46BA-A769-E089271B92A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844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D0ADE-14C4-B837-DD71-7AEFD41CB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FCE8F-760F-D4BE-E5AF-471EFC97C8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6B5C81-4AE2-1A6E-4EC0-F99705129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EF9B2-A977-2B1A-01D1-9D011B560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05FC-E8D6-46BA-A769-E089271B92A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123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5E382-D099-8FD8-ABB2-D475199F9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E433B-A1D7-A725-697B-13E108BB0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62A20-C892-5CCF-47AE-6CC30ACC8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7B48E-BA8C-C6A0-51B0-A6B996585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F05FC-E8D6-46BA-A769-E089271B92A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14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7D3A-FDD4-20FF-40F5-316C299BBC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43C47-4C84-13B1-5C3E-E28ACD87C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CE329-8A75-6145-8703-DFD9CDA37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46C4-BE65-4B5A-A5CA-816D532F4D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D3B55-BF04-29CA-6C66-D8A675213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8BBB9-1283-5699-D59E-097163BCE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A3768-4B16-4A25-9FCF-3A0C7860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7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6B58D-322C-B85C-3CAE-536E9B3A2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1EC5C-751F-3600-EDCE-8FAEB9199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CA1AF-66D8-E58C-6690-19CA0FB6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46C4-BE65-4B5A-A5CA-816D532F4D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B0D79-E4E9-E377-2CF1-C2F8F5A1D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4D8F7-7836-C7A1-959C-653BD9DD9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A3768-4B16-4A25-9FCF-3A0C7860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761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AFD6D-0396-0411-9614-F3FB8B02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C1265-2494-5EB2-CB2D-EA2717FD9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D91D7-D950-80C4-B865-00BE694AD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46C4-BE65-4B5A-A5CA-816D532F4D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2A3EF-F381-0F3D-06A3-3792307A5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2FD19-06FF-1B88-FEED-3F0418AC0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A3768-4B16-4A25-9FCF-3A0C7860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5136-2813-D2F7-F9DE-4618E8FE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261ED-4939-F50E-35FB-68550BCDB6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4D061-DA41-D6E2-9A76-715F91FD1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6CF12-C62A-D7FC-F9ED-A41559D24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46C4-BE65-4B5A-A5CA-816D532F4D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E2749-C444-C17C-8F97-9787587B8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0603C-FA8E-CF19-2604-052187C6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A3768-4B16-4A25-9FCF-3A0C7860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90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C67B4-4467-DEB3-9DE4-88A4EA635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B8FDD-A6DD-A626-E85E-CF655D65E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0FC5B3-EB95-9A8B-D3EA-2E7E64556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891E7-903F-7049-3131-836FA0007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E85A5-04B0-F9A7-8BC7-771EF68E97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8513C-DD6B-1BAC-2280-93F2BB3F7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46C4-BE65-4B5A-A5CA-816D532F4D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290782-DF22-E585-5B91-D317E248C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B7B2CE-30B8-F57E-B28C-D762B635E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A3768-4B16-4A25-9FCF-3A0C7860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08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15A82-FAEB-AF6F-0811-624412C12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4DFAF-E7F2-81FF-28ED-A9E6DB5CA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46C4-BE65-4B5A-A5CA-816D532F4D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2A92DF-D6D7-7ADC-0531-3284DA260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130B4-C94C-B876-4D6C-D762FB60E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A3768-4B16-4A25-9FCF-3A0C7860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3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C577D9-A7BC-5259-8CB6-346C25D78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46C4-BE65-4B5A-A5CA-816D532F4D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40EA91-109F-00C4-6DD2-6760CE92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C1A8D-7511-39FB-3F49-7EB24D50D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A3768-4B16-4A25-9FCF-3A0C7860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6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BCFC-5620-5C06-C15F-F7D5419FC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F142D-B446-D520-A6A0-A0B795574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96EA2-494B-2B60-AD47-DD77437EE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0F16B-8417-B058-16FC-014003FA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46C4-BE65-4B5A-A5CA-816D532F4D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BB9B5-55C0-027F-AA6E-B648D5CC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5755A-CC58-DF25-80F8-B8478DBC1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A3768-4B16-4A25-9FCF-3A0C7860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48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6CC1-02E9-9707-CEAA-A6AC31483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52B39D-C3D1-C8A8-443D-4B16F36EE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AB98F-9C80-7BB1-C204-94B41832D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80514-3B4E-0FC7-F9D1-2E30C4CCC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46C4-BE65-4B5A-A5CA-816D532F4D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95BC0-CF2C-5BA0-CFF0-5B0D39B53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B82C2-7672-3360-EDF7-CA2D992ED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A3768-4B16-4A25-9FCF-3A0C7860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4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1C4D-C5AB-9DFE-4B84-1387A5D5D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17BD71-C357-0901-EB92-05FBFEE57D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0B013-8B0D-FD9A-824C-47DAD5463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46C4-BE65-4B5A-A5CA-816D532F4D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8213D-D7A4-766C-26DA-1A3AEFF1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FF16D-D363-7771-9A6D-49B44253C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A3768-4B16-4A25-9FCF-3A0C7860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602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B549EF-4150-AA2C-7DB3-93C6E33440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7B922D-8BEB-6C2C-39B1-D4352B4CB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F19B4-795D-8372-1F2E-15E8E010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46C4-BE65-4B5A-A5CA-816D532F4D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882D6-D5A4-ABFB-4AD4-0319BD4B8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55AB9-E7F3-D911-7CE2-5B26660E6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A3768-4B16-4A25-9FCF-3A0C7860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151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E25EF4-6E59-60E5-2D5C-D0DA5C649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730BF-F468-5288-6E4A-AEE463B8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A6F43-01E9-7AA1-A052-54D3F4632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2146C4-BE65-4B5A-A5CA-816D532F4D28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0F811-2379-FAFB-B5E9-F1FF89F7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6B9BF-0281-668C-8A85-AA6655F025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BA3768-4B16-4A25-9FCF-3A0C7860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493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3587C-70B0-5460-3E26-EB6AE4755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D39F-8D65-6768-79F0-EBB701250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36663"/>
            <a:ext cx="9144000" cy="2387600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Library Management System using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BA174-5564-BF6F-DF90-4BB378AE6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35412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By Maira Nawaz</a:t>
            </a:r>
          </a:p>
        </p:txBody>
      </p:sp>
    </p:spTree>
    <p:extLst>
      <p:ext uri="{BB962C8B-B14F-4D97-AF65-F5344CB8AC3E}">
        <p14:creationId xmlns:p14="http://schemas.microsoft.com/office/powerpoint/2010/main" val="4085222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03A7-EDDF-669C-D1C1-E260C6FB7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 b="1"/>
              <a:t>Project Overview</a:t>
            </a:r>
            <a:endParaRPr lang="en-US" sz="540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471F6F02-F81D-0A43-6EC1-00BBAC0E2A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9974424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069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A03B96-D987-9C9B-DE78-5A44DF348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b="1"/>
              <a:t>Project Objectives</a:t>
            </a:r>
            <a:endParaRPr lang="en-US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647B9-BFCB-6401-DB32-3BA02B25F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Database Setup</a:t>
            </a:r>
            <a:r>
              <a:rPr lang="en-US" sz="2200" dirty="0"/>
              <a:t> – Creating and populating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CRUD Operations</a:t>
            </a:r>
            <a:r>
              <a:rPr lang="en-US" sz="2200" dirty="0"/>
              <a:t> – Insert, Read, Update, Delete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CTAS (Create Table As Select)</a:t>
            </a:r>
            <a:r>
              <a:rPr lang="en-US" sz="2200" dirty="0"/>
              <a:t> – Generate new tables based on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Advanced SQL Queries</a:t>
            </a:r>
            <a:r>
              <a:rPr lang="en-US" sz="2200" dirty="0"/>
              <a:t> – Perform data analysis and reporting</a:t>
            </a:r>
          </a:p>
        </p:txBody>
      </p:sp>
    </p:spTree>
    <p:extLst>
      <p:ext uri="{BB962C8B-B14F-4D97-AF65-F5344CB8AC3E}">
        <p14:creationId xmlns:p14="http://schemas.microsoft.com/office/powerpoint/2010/main" val="286554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E7C35D-400C-5100-82BF-DAE2E65FF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en-US" sz="5000" b="1"/>
              <a:t>Database Schema &amp; ERD</a:t>
            </a:r>
            <a:endParaRPr lang="en-US" sz="5000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3BF77F31-1E10-00FC-AA9C-431CFE1C3C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32" b="10268"/>
          <a:stretch/>
        </p:blipFill>
        <p:spPr>
          <a:xfrm>
            <a:off x="630936" y="1893665"/>
            <a:ext cx="5458968" cy="3070669"/>
          </a:xfrm>
          <a:prstGeom prst="rect">
            <a:avLst/>
          </a:prstGeom>
        </p:spPr>
      </p:pic>
      <p:sp>
        <p:nvSpPr>
          <p:cNvPr id="18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18BB4-C005-7AE3-4C6E-E125B2ECE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664886"/>
            <a:ext cx="4818888" cy="3550789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500" b="1"/>
              <a:t>Tables Created:</a:t>
            </a:r>
            <a:endParaRPr lang="en-US" sz="15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/>
              <a:t>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/>
              <a:t>Employees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/>
              <a:t>Members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/>
              <a:t>Books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/>
              <a:t>Issued Status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/>
              <a:t>Return Status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/>
              <a:t>Relationships &amp; Foreign Keys</a:t>
            </a:r>
            <a:endParaRPr lang="en-US" sz="15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/>
              <a:t>Employees linked to Branches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/>
              <a:t>Issued books linked to Members &amp; Employees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/>
              <a:t>Returned books linked to Issued Status</a:t>
            </a:r>
          </a:p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94228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55097A-C03E-2B77-F79E-9C82FE010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ERD Diagram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EC5AD677-3544-AD44-E05E-F4313D4F6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980351"/>
            <a:ext cx="7214616" cy="4869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38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62A9C-5B86-81BC-358F-193DEBDCD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b="1" dirty="0"/>
              <a:t>Database Setup - SQL Commands</a:t>
            </a:r>
            <a:endParaRPr lang="en-US" sz="54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72FF8-58AC-1C42-4EEA-213FD531B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400" b="1" dirty="0"/>
              <a:t>Database Creation: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F73909-7CC6-4B94-AD78-115840F09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547" y="3290863"/>
            <a:ext cx="9027858" cy="980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656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715B9C-38EE-B1B2-304F-E782AA52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Creating books table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01890D-0413-A00F-A55C-23D9E97424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285" y="1946389"/>
            <a:ext cx="5614416" cy="3263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455369-1FD6-7A6D-1836-8C2F4C973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4015" y="3371991"/>
            <a:ext cx="6018700" cy="285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21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92617-56EA-7DD9-65C5-F245B59AF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Creating branches table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CF87D1-7653-FCAF-A4DC-CE0408F585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6384" y="2347917"/>
            <a:ext cx="5614416" cy="19939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24B3D8-3D68-5615-1DC7-6375E314B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429000"/>
            <a:ext cx="5614416" cy="254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7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2F3E31-F8D1-754F-FCB8-D5915E675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8B0D8A-B174-573D-97AC-8EF16FF7F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Creating employees table 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2CD5AA0-1371-6F61-3736-D2C52FAD93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3193" y="3014534"/>
            <a:ext cx="5614416" cy="1824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392D0E-75FF-D252-BE3B-040D1F26F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986" y="2283014"/>
            <a:ext cx="4991535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0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01572-B3B5-2E2A-B4EB-35FEC5F18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AE42F0-469A-349F-EA0F-438CE1A75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Creating issued_status table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80C9C5-8FD7-BA30-E9D5-A4AE6C2FB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881" y="2847840"/>
            <a:ext cx="5614416" cy="24141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9B8032-2EDD-F9B7-A41E-F0F0D2D86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297" y="2586295"/>
            <a:ext cx="5614416" cy="293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672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08CFEE-0401-6655-9191-A6327284F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C4F07C-009C-D65C-E33E-8E1BD73A5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Creating members table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1C99AB-967C-1C04-78AF-B220EC968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85" y="2920679"/>
            <a:ext cx="5614416" cy="21115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0046DD-C5B3-DA19-9747-398CAF946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299" y="2359347"/>
            <a:ext cx="5614416" cy="336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7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35F54-DD0D-2D3A-B9E0-36E6D88A3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82BA8-D8C9-0EC1-08C5-7BC079735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Creating return_status table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BCCAEE-1E3A-469B-92A1-9294B1A14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259" y="2517436"/>
            <a:ext cx="4778217" cy="36057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25BB6B-86A3-2CCF-B280-4381CF745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204" y="3178382"/>
            <a:ext cx="5614416" cy="181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75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E57D7C-EED2-F84A-E9C3-7E30D5BAC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Project </a:t>
            </a:r>
            <a:br>
              <a:rPr lang="en-US" sz="5400" dirty="0"/>
            </a:br>
            <a:r>
              <a:rPr lang="en-US" sz="5400" dirty="0"/>
              <a:t>Task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B7DF0-C0F2-B968-1036-DEB411606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400" b="1" dirty="0"/>
              <a:t>2. CRUD Operations</a:t>
            </a:r>
          </a:p>
          <a:p>
            <a:r>
              <a:rPr lang="en-US" sz="1400" dirty="0"/>
              <a:t>Task 1. Create a New Book Record-- "978-1-60129-456-2', 'To Kill a Mockingbird', 'Classic', 6.00, 'yes', 'Harper Lee', 'J.B. Lippincott &amp; Co.’)”</a:t>
            </a:r>
          </a:p>
          <a:p>
            <a:r>
              <a:rPr lang="en-US" sz="1400" dirty="0"/>
              <a:t>Task 2: Update an Existing Member's Address</a:t>
            </a:r>
          </a:p>
          <a:p>
            <a:r>
              <a:rPr lang="en-US" sz="1400" dirty="0"/>
              <a:t>Task 3: Delete a Record from the Issued Status Table-- Objective: Delete the record with </a:t>
            </a:r>
            <a:r>
              <a:rPr lang="en-US" sz="1400" dirty="0" err="1"/>
              <a:t>issued_id</a:t>
            </a:r>
            <a:r>
              <a:rPr lang="en-US" sz="1400" dirty="0"/>
              <a:t> = 'IS104' from the </a:t>
            </a:r>
            <a:r>
              <a:rPr lang="en-US" sz="1400" dirty="0" err="1"/>
              <a:t>issued_status</a:t>
            </a:r>
            <a:r>
              <a:rPr lang="en-US" sz="1400" dirty="0"/>
              <a:t> table</a:t>
            </a:r>
          </a:p>
          <a:p>
            <a:r>
              <a:rPr lang="en-US" sz="1400" dirty="0"/>
              <a:t>Task 4: Retrieve All Books Issued by a Specific Employee-- Objective: Select all books issued by the employee with </a:t>
            </a:r>
            <a:r>
              <a:rPr lang="en-US" sz="1400" dirty="0" err="1"/>
              <a:t>emp_id</a:t>
            </a:r>
            <a:r>
              <a:rPr lang="en-US" sz="1400" dirty="0"/>
              <a:t> = 'E101’.</a:t>
            </a:r>
          </a:p>
          <a:p>
            <a:r>
              <a:rPr lang="en-US" sz="1400" dirty="0"/>
              <a:t>Task 5: List Members Who Have Issued More Than One Book-- Objective: Use GROUP BY to find members who have issued more than one book.</a:t>
            </a:r>
          </a:p>
          <a:p>
            <a:pPr marL="0" indent="0">
              <a:buNone/>
            </a:pPr>
            <a:r>
              <a:rPr lang="en-US" sz="1400" b="1" dirty="0"/>
              <a:t>3. CTAS (Create Table As Select)</a:t>
            </a:r>
          </a:p>
          <a:p>
            <a:r>
              <a:rPr lang="en-US" sz="1400" dirty="0"/>
              <a:t>Task 6: Create Summary Tables**: Used CTAS to generate new tables based on query results - each book and total </a:t>
            </a:r>
            <a:r>
              <a:rPr lang="en-US" sz="1400" dirty="0" err="1"/>
              <a:t>book_issued_cnt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4. Data Analysis &amp; Findings</a:t>
            </a:r>
          </a:p>
          <a:p>
            <a:r>
              <a:rPr lang="en-US" sz="1400" dirty="0"/>
              <a:t>Task 7. **Retrieve All Books in a Specific Category:</a:t>
            </a:r>
          </a:p>
          <a:p>
            <a:r>
              <a:rPr lang="en-US" sz="1400" dirty="0"/>
              <a:t>Task 8: Find Total Rental Income by Category:</a:t>
            </a:r>
          </a:p>
          <a:p>
            <a:r>
              <a:rPr lang="en-US" sz="1400" dirty="0"/>
              <a:t>Task 9. **List Members Who Registered in the Last 180 Days**:</a:t>
            </a:r>
          </a:p>
          <a:p>
            <a:r>
              <a:rPr lang="en-US" sz="1400" dirty="0"/>
              <a:t>Task 10: List Employees with Their Branch Manager's Name and their branch details</a:t>
            </a:r>
          </a:p>
          <a:p>
            <a:r>
              <a:rPr lang="en-US" sz="1400" dirty="0"/>
              <a:t> Task 11. Create a Table of Books with Rental Price Above a Certain Threshold</a:t>
            </a:r>
          </a:p>
          <a:p>
            <a:r>
              <a:rPr lang="en-US" sz="1400" dirty="0"/>
              <a:t> Task 12: Retrieve the List of Books Not Yet Returned    </a:t>
            </a:r>
          </a:p>
        </p:txBody>
      </p:sp>
    </p:spTree>
    <p:extLst>
      <p:ext uri="{BB962C8B-B14F-4D97-AF65-F5344CB8AC3E}">
        <p14:creationId xmlns:p14="http://schemas.microsoft.com/office/powerpoint/2010/main" val="1685586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4B4936-695C-BA0A-A004-4A34E7BFE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2. CRUD Operations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2BEA5-4AF3-15F4-6914-BD2E810FE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1500" b="1"/>
              <a:t>CRUD Operations </a:t>
            </a:r>
          </a:p>
          <a:p>
            <a:pPr>
              <a:buNone/>
            </a:pPr>
            <a:r>
              <a:rPr lang="en-US" sz="1500" b="1"/>
              <a:t>1. CREATE (Insert 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/>
              <a:t>Adds new records to a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/>
              <a:t>Used to store new books, users, or transactions in the database.</a:t>
            </a:r>
          </a:p>
          <a:p>
            <a:pPr>
              <a:buNone/>
            </a:pPr>
            <a:r>
              <a:rPr lang="en-US" sz="1500" b="1"/>
              <a:t>2. READ (Retrieve 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/>
              <a:t>Fetches data from the database without modifying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/>
              <a:t>Used to search for books, check availability, or view user details.</a:t>
            </a:r>
          </a:p>
          <a:p>
            <a:pPr>
              <a:buNone/>
            </a:pPr>
            <a:r>
              <a:rPr lang="en-US" sz="1500" b="1"/>
              <a:t>3. UPDATE (Modify 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/>
              <a:t>Changes existing records in a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/>
              <a:t>Used to update book availability, modify user details, or edit rental prices.</a:t>
            </a:r>
          </a:p>
          <a:p>
            <a:pPr>
              <a:buNone/>
            </a:pPr>
            <a:r>
              <a:rPr lang="en-US" sz="1500" b="1"/>
              <a:t>4. DELETE (Remove 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/>
              <a:t>Deletes records from a table permanently.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/>
              <a:t>Used to remove outdated books, delete user accounts, or erase old transactions.</a:t>
            </a:r>
          </a:p>
          <a:p>
            <a:r>
              <a:rPr lang="en-US" sz="1500"/>
              <a:t>Would you like this formatted into PowerPoint slides? 😊</a:t>
            </a:r>
          </a:p>
          <a:p>
            <a:pPr marL="0" indent="0">
              <a:buNone/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597240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A1AB78-9F49-11D3-3347-3B79DDABC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7BFAC46-D4E2-195E-642E-DA1426E74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E3525A-52A4-1634-A9DE-1A5533844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737906"/>
            <a:ext cx="9300621" cy="92862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600" dirty="0"/>
              <a:t>Task 1: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3E18908F-5B8D-CCD4-646D-AFF834C36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61DF2D-E543-0309-9632-AED9590CC29A}"/>
              </a:ext>
            </a:extLst>
          </p:cNvPr>
          <p:cNvSpPr txBox="1"/>
          <p:nvPr/>
        </p:nvSpPr>
        <p:spPr>
          <a:xfrm>
            <a:off x="1071880" y="2190571"/>
            <a:ext cx="9672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Create a New Book Record-- "978-1-60129-456-2', 'To Kill a Mockingbird', 'Classic', 6.00, 'yes', 'Harper Lee', 'J.B. Lippincott &amp; Co.’)”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04F81A-E428-9600-25C0-921F79AD9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" y="3565779"/>
            <a:ext cx="9875259" cy="98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141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687BE6-4AD8-3556-56FF-E4CD8FEFB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EDCB71D-C24E-2934-7523-E96D633E3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9D9F70-2531-C333-712C-ADEC4AB56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737906"/>
            <a:ext cx="9300621" cy="92862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600" dirty="0"/>
              <a:t>Task 1: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7B2DF41E-6A10-5DE9-1FB5-6F87064D4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960D9F-9D3C-5F87-F651-3D6317B0002F}"/>
              </a:ext>
            </a:extLst>
          </p:cNvPr>
          <p:cNvSpPr txBox="1"/>
          <p:nvPr/>
        </p:nvSpPr>
        <p:spPr>
          <a:xfrm>
            <a:off x="1071880" y="2190571"/>
            <a:ext cx="9672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New record is added in books table:</a:t>
            </a:r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289FB88B-6AAD-9008-D871-F0AB07401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099" y="3132928"/>
            <a:ext cx="3351328" cy="15914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340F6C-5B3E-3D59-1124-58CC3B5B3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223" y="3091517"/>
            <a:ext cx="5960897" cy="234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860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C7A6D-07C5-F125-91C9-E378027BD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7B07F82-81BC-44FC-3FEF-D63477227E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780786-050D-9A03-9D31-4714D79DA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737906"/>
            <a:ext cx="9300621" cy="92862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600" dirty="0"/>
              <a:t>Task 2: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C70F8ACD-C204-F3A0-9AA1-1A2F29866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928A4-9562-7D51-5718-2AFE5C4A4535}"/>
              </a:ext>
            </a:extLst>
          </p:cNvPr>
          <p:cNvSpPr txBox="1"/>
          <p:nvPr/>
        </p:nvSpPr>
        <p:spPr>
          <a:xfrm>
            <a:off x="995680" y="2129892"/>
            <a:ext cx="9672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Update an Existing Member's Address: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9EDB9E-BFDB-194C-3E1A-9F3EB8A76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122" y="2750914"/>
            <a:ext cx="6077798" cy="1247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FAB0C4-EE31-20D3-AC3F-67779FC9C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478" y="3796422"/>
            <a:ext cx="4848902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65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86183B-FB02-6ECF-A3FC-1F95D9E2D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0B804ECA-C9D1-29E2-7640-1599D29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0301D-3E91-DF10-6405-399E6BA2B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737906"/>
            <a:ext cx="9300621" cy="92862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600" dirty="0"/>
              <a:t>Task 3: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F56CEFA0-7104-0090-29CE-9748E1713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D94311-1B9F-3C31-B7AB-F2A5B9BAA79A}"/>
              </a:ext>
            </a:extLst>
          </p:cNvPr>
          <p:cNvSpPr txBox="1"/>
          <p:nvPr/>
        </p:nvSpPr>
        <p:spPr>
          <a:xfrm>
            <a:off x="995680" y="2129892"/>
            <a:ext cx="9672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Delete a Record from the Issued Status Table: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C90677-9DBB-2058-800D-768C516C2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6479" y="3057270"/>
            <a:ext cx="5519681" cy="188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445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1DD744-0E29-57A3-EE7E-183B4C42D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93B421E-A518-7FA6-C6E1-F16C0C427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3D1FA4-DC86-DB2D-C118-57F113397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737906"/>
            <a:ext cx="9300621" cy="92862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600" dirty="0"/>
              <a:t>Task 4: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06600E7C-9D39-7E2C-799F-9240D7107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03049-58C6-EC3C-BDF1-4A07B0A65AAA}"/>
              </a:ext>
            </a:extLst>
          </p:cNvPr>
          <p:cNvSpPr txBox="1"/>
          <p:nvPr/>
        </p:nvSpPr>
        <p:spPr>
          <a:xfrm>
            <a:off x="995680" y="2129892"/>
            <a:ext cx="9672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Retrieve All Books Issued by a Specific Employee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076E25-343E-042B-B78F-0C0F39A20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282" y="2839819"/>
            <a:ext cx="2943636" cy="15337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3F2300-5AED-7828-7FCB-9EA21FB00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347" y="4659894"/>
            <a:ext cx="7925653" cy="13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967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9EA220-CF90-ED50-B494-CE19B7B9B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F79EF8B9-F339-29B3-3927-5EC9EF863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1EB2B-E358-0A33-1D4E-59B194780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737906"/>
            <a:ext cx="9300621" cy="92862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600" dirty="0"/>
              <a:t>Task 5: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6E336A14-6A1A-D809-029C-70FDF7641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1A8D7C-17ED-A7DA-0CE3-5FDC913E0055}"/>
              </a:ext>
            </a:extLst>
          </p:cNvPr>
          <p:cNvSpPr txBox="1"/>
          <p:nvPr/>
        </p:nvSpPr>
        <p:spPr>
          <a:xfrm>
            <a:off x="995680" y="2129892"/>
            <a:ext cx="9672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List Members Who Have Issued More Than One Book: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B4CD8D-70A7-8597-A33F-22441CBA2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80" y="3413599"/>
            <a:ext cx="5658640" cy="1543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F3A148-51E9-FF39-32DB-5A8D247AC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160" y="2775948"/>
            <a:ext cx="3300560" cy="304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59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FDD90-86B3-95E5-649C-12213559F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DAF2995-08E2-F75E-D0C2-1D1A081AD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D94B5-6FF7-00CB-A1B2-0F8D24BE9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737906"/>
            <a:ext cx="9300621" cy="928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3. CTAS (Create Table As Select)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0DAEFB1E-11FB-639F-0926-41EC775A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E4F31-95A4-A4D8-B3ED-FF541C31507A}"/>
              </a:ext>
            </a:extLst>
          </p:cNvPr>
          <p:cNvSpPr txBox="1"/>
          <p:nvPr/>
        </p:nvSpPr>
        <p:spPr>
          <a:xfrm>
            <a:off x="800100" y="2129892"/>
            <a:ext cx="98679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Task 6: Create Summary Tables : Used CTAS to generate new tables based on query results - each book and total </a:t>
            </a:r>
            <a:r>
              <a:rPr lang="en-US" sz="2000" b="1" dirty="0" err="1"/>
              <a:t>book_issued_cnt</a:t>
            </a:r>
            <a:endParaRPr lang="en-US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BDA148-9374-2D08-4EA9-47BB31A386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38" y="3031524"/>
            <a:ext cx="7039957" cy="1047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5B10F9-9244-EB29-F494-B42018597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099" y="4323941"/>
            <a:ext cx="2410160" cy="10478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1D924E-F714-E6C0-D7B3-CA04F0FD7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268" y="2979846"/>
            <a:ext cx="3477110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83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030D3-4C18-0FD7-AD4A-B63F1F4F6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08A3DB8-C83C-E7E5-7F0E-1CBD8F206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4D55B4-560A-2BAD-DB4B-7D3258C8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737906"/>
            <a:ext cx="9300621" cy="928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4. Data Analysis &amp; Findings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4706A536-9D53-3543-75BC-889D938AB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6CE07-4013-93D0-C3B2-41A711B41758}"/>
              </a:ext>
            </a:extLst>
          </p:cNvPr>
          <p:cNvSpPr txBox="1"/>
          <p:nvPr/>
        </p:nvSpPr>
        <p:spPr>
          <a:xfrm>
            <a:off x="800100" y="2129892"/>
            <a:ext cx="9867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 Task 7. Retrieve All Books in a Specific Category: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E19710-B0E4-AED8-7CF6-64F6C8986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509" y="3637172"/>
            <a:ext cx="2381582" cy="1295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3E2BAE-76D9-4664-8DC6-43494F1B5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362" y="3219132"/>
            <a:ext cx="6735115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408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93003-F53C-538D-F4DD-254B6125D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602F561-E8AB-D326-4615-8A1F41D7C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E7324F-C323-ADE3-F178-EF2AFE46E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737906"/>
            <a:ext cx="9300621" cy="928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Task 8: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F7C6BF4D-B454-AE18-442F-5DBDCD188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AE1BBC-5407-2C21-8812-3835193BAB0D}"/>
              </a:ext>
            </a:extLst>
          </p:cNvPr>
          <p:cNvSpPr txBox="1"/>
          <p:nvPr/>
        </p:nvSpPr>
        <p:spPr>
          <a:xfrm>
            <a:off x="800100" y="2129892"/>
            <a:ext cx="9867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Find Total Rental Income by Category: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374E73-A972-0C82-1E0E-ACD6219C6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139" y="3429000"/>
            <a:ext cx="4801270" cy="1457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BF7565-764A-2238-ABBF-0FD16CE7C1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340" y="2790923"/>
            <a:ext cx="3278360" cy="278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430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4F5234-6E96-9F85-46F4-37B7E69E3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DDA1D59-6E44-2939-8EBE-1397153AC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248CDC-F6DD-C1B1-E47B-EAF81B7F7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737906"/>
            <a:ext cx="9300621" cy="928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Task 9: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68421DB2-82B5-F0B3-7CE3-36EC222A3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1D0C1-3039-3007-853C-6D27F32F8325}"/>
              </a:ext>
            </a:extLst>
          </p:cNvPr>
          <p:cNvSpPr txBox="1"/>
          <p:nvPr/>
        </p:nvSpPr>
        <p:spPr>
          <a:xfrm>
            <a:off x="800100" y="2129892"/>
            <a:ext cx="9867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List Members Who Registered in the Last 180 Days: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6296D3-ED4F-32A5-0472-6AD8ED42A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388" y="3084051"/>
            <a:ext cx="5363323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95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45288-0955-BF65-5D41-6C3DB52B8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D921867-F763-6410-D6B9-4CF6F54BB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F5A57-2ACC-0D87-F408-A55FCA2F3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737906"/>
            <a:ext cx="9300621" cy="928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Task 10: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BFB26DA8-CD91-991E-0553-E4192C4B5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A2AF4-0560-1CAB-4442-B03E34E3A880}"/>
              </a:ext>
            </a:extLst>
          </p:cNvPr>
          <p:cNvSpPr txBox="1"/>
          <p:nvPr/>
        </p:nvSpPr>
        <p:spPr>
          <a:xfrm>
            <a:off x="800100" y="2129892"/>
            <a:ext cx="9867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 List Employees with Their Branch Manager's Name and their branch details**: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2D85D-8034-3955-3940-FC8B4CA6D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261877"/>
            <a:ext cx="4595489" cy="18308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416405-F69D-958A-DCF8-2CD3804E0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661" y="2840845"/>
            <a:ext cx="4725059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40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51DC2-EF6A-3420-731A-99FF67E3E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73EF8DF-6028-3905-946C-893EB0760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410D15-88A9-A47E-5CC4-BCEE6656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737906"/>
            <a:ext cx="9300621" cy="928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Task 11: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399A43DC-65AD-7B84-6472-69F9AD23F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7872F5-9FC7-7F4E-B66D-D755A089C29A}"/>
              </a:ext>
            </a:extLst>
          </p:cNvPr>
          <p:cNvSpPr txBox="1"/>
          <p:nvPr/>
        </p:nvSpPr>
        <p:spPr>
          <a:xfrm>
            <a:off x="800100" y="2129892"/>
            <a:ext cx="9867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Create a Table of Books with Rental Price Above a Certain Threshold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497C5E-C015-11FF-D367-46EA8167F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934" y="2848787"/>
            <a:ext cx="4172532" cy="8287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2CD243-E450-1115-FA15-6546AA0FF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6" y="2726175"/>
            <a:ext cx="3068662" cy="12043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A7E06C-0C51-B1E4-E5CE-CA9C1A50B2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218" y="4126655"/>
            <a:ext cx="7572882" cy="195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7388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4030A9-1928-202C-65DE-C550C7EE5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D307F6E-F119-1E76-B10A-A9CE65BF1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1F6C42-02C1-0496-74B8-D50010049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099" y="737906"/>
            <a:ext cx="9300621" cy="928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/>
              <a:t>Task 12: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462B7F94-CB29-4055-C912-8357C11DB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A02CA5-47E6-A638-C687-563DB1B40290}"/>
              </a:ext>
            </a:extLst>
          </p:cNvPr>
          <p:cNvSpPr txBox="1"/>
          <p:nvPr/>
        </p:nvSpPr>
        <p:spPr>
          <a:xfrm>
            <a:off x="800100" y="2129892"/>
            <a:ext cx="9867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Retrieve the List of Books Not Yet Returned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805968-880C-95E8-A985-CCBADC42D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868" y="3278797"/>
            <a:ext cx="4640424" cy="14401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E2DE33-0427-6A72-1D86-10F644DC2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386" y="2376335"/>
            <a:ext cx="1972113" cy="361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007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750</Words>
  <Application>Microsoft Office PowerPoint</Application>
  <PresentationFormat>Widescreen</PresentationFormat>
  <Paragraphs>100</Paragraphs>
  <Slides>27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Library Management System using SQL</vt:lpstr>
      <vt:lpstr>Project Overview</vt:lpstr>
      <vt:lpstr>Project Objectives</vt:lpstr>
      <vt:lpstr>Database Schema &amp; ERD</vt:lpstr>
      <vt:lpstr>ERD Diagram</vt:lpstr>
      <vt:lpstr>Database Setup - SQL Commands</vt:lpstr>
      <vt:lpstr>Creating books table</vt:lpstr>
      <vt:lpstr>Creating branches table</vt:lpstr>
      <vt:lpstr>Creating employees table </vt:lpstr>
      <vt:lpstr>Creating issued_status table</vt:lpstr>
      <vt:lpstr>Creating members table</vt:lpstr>
      <vt:lpstr>Creating return_status table</vt:lpstr>
      <vt:lpstr>Project  Task</vt:lpstr>
      <vt:lpstr>2. CRUD Operations</vt:lpstr>
      <vt:lpstr>Task 1:</vt:lpstr>
      <vt:lpstr>Task 1:</vt:lpstr>
      <vt:lpstr>Task 2:</vt:lpstr>
      <vt:lpstr>Task 3:</vt:lpstr>
      <vt:lpstr>Task 4:</vt:lpstr>
      <vt:lpstr>Task 5:</vt:lpstr>
      <vt:lpstr>3. CTAS (Create Table As Select)</vt:lpstr>
      <vt:lpstr>4. Data Analysis &amp; Findings</vt:lpstr>
      <vt:lpstr>Task 8:</vt:lpstr>
      <vt:lpstr>Task 9:</vt:lpstr>
      <vt:lpstr>Task 10:</vt:lpstr>
      <vt:lpstr>Task 11:</vt:lpstr>
      <vt:lpstr>Task 12: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Maira Nawaz</dc:creator>
  <cp:lastModifiedBy>Maira Nawaz</cp:lastModifiedBy>
  <cp:revision>4</cp:revision>
  <dcterms:created xsi:type="dcterms:W3CDTF">2025-03-29T00:58:38Z</dcterms:created>
  <dcterms:modified xsi:type="dcterms:W3CDTF">2025-03-29T02:10:28Z</dcterms:modified>
</cp:coreProperties>
</file>